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Quattrocento Sans" charset="-122" pitchFamily="34"/>
      <p:regular r:id="rId17"/>
    </p:embeddedFont>
    <p:embeddedFont>
      <p:font typeface="Unna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_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-top"/>
          <p:cNvSpPr/>
          <p:nvPr/>
        </p:nvSpPr>
        <p:spPr>
          <a:xfrm>
            <a:off x="609600" y="1524000"/>
            <a:ext cx="762000" cy="508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3" name="cover-kicker"/>
          <p:cNvSpPr txBox="1"/>
          <p:nvPr/>
        </p:nvSpPr>
        <p:spPr>
          <a:xfrm>
            <a:off x="609600" y="1778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INTERNAL — PREPARED FOR THE OWNERSHIP OF WALTERS &amp; WOLF CURTAIN WALL, LLC</a:t>
            </a:r>
            <a:endParaRPr lang="en-US" sz="1100" noProof="1"/>
          </a:p>
        </p:txBody>
      </p:sp>
      <p:sp>
        <p:nvSpPr>
          <p:cNvPr id="4" name="cover-title"/>
          <p:cNvSpPr txBox="1"/>
          <p:nvPr/>
        </p:nvSpPr>
        <p:spPr>
          <a:xfrm>
            <a:off x="609600" y="2133600"/>
            <a:ext cx="10922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8000"/>
              </a:lnSpc>
            </a:pPr>
            <a:r>
              <a:rPr lang="en-US" sz="3700" noProof="1" b="1">
                <a:solidFill>
                  <a:srgbClr val="2E2A26"/>
                </a:solidFill>
                <a:latin typeface="Unna"/>
                <a:ea typeface="Unna"/>
              </a:rPr>
              <a:t>Mission-Critical: The Investment Case for Repositioning the Mukilteo Branch from Commercial Glazing to Data Center Enclosures</a:t>
            </a:r>
            <a:endParaRPr lang="en-US" sz="3700" noProof="1"/>
          </a:p>
        </p:txBody>
      </p:sp>
      <p:sp>
        <p:nvSpPr>
          <p:cNvPr id="5" name="cover-subtitle"/>
          <p:cNvSpPr txBox="1"/>
          <p:nvPr/>
        </p:nvSpPr>
        <p:spPr>
          <a:xfrm>
            <a:off x="609600" y="4089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6B6259"/>
                </a:solidFill>
                <a:latin typeface="Quattrocento Sans"/>
                <a:ea typeface="Quattrocento Sans"/>
              </a:rPr>
              <a:t>An evidence-based proposal built on peer-reviewed research, SEC filings, DOE/IEA assessments, and official market data — with the bear case priced and the downside capped by tranche gates.</a:t>
            </a:r>
            <a:endParaRPr lang="en-US" sz="1500" noProof="1"/>
          </a:p>
        </p:txBody>
      </p:sp>
      <p:sp>
        <p:nvSpPr>
          <p:cNvPr id="6" name="cover-stat1-num"/>
          <p:cNvSpPr txBox="1"/>
          <p:nvPr/>
        </p:nvSpPr>
        <p:spPr>
          <a:xfrm>
            <a:off x="609600" y="50292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35.8%</a:t>
            </a:r>
            <a:endParaRPr lang="en-US" sz="3800" noProof="1"/>
          </a:p>
        </p:txBody>
      </p:sp>
      <p:sp>
        <p:nvSpPr>
          <p:cNvPr id="7" name="cover-stat1-label"/>
          <p:cNvSpPr txBox="1"/>
          <p:nvPr/>
        </p:nvSpPr>
        <p:spPr>
          <a:xfrm>
            <a:off x="609600" y="5613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Downtown Seattle office vacancy, Q2 2026 — worst of any major U.S. downtown</a:t>
            </a:r>
            <a:endParaRPr lang="en-US" sz="1000" noProof="1"/>
          </a:p>
        </p:txBody>
      </p:sp>
      <p:sp>
        <p:nvSpPr>
          <p:cNvPr id="8" name="cover-div1"/>
          <p:cNvSpPr/>
          <p:nvPr/>
        </p:nvSpPr>
        <p:spPr>
          <a:xfrm>
            <a:off x="3403600" y="5080000"/>
            <a:ext cx="12700" cy="8636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9" name="cover-stat2-num"/>
          <p:cNvSpPr txBox="1"/>
          <p:nvPr/>
        </p:nvSpPr>
        <p:spPr>
          <a:xfrm>
            <a:off x="3708400" y="50292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1.4%</a:t>
            </a:r>
            <a:endParaRPr lang="en-US" sz="3800" noProof="1"/>
          </a:p>
        </p:txBody>
      </p:sp>
      <p:sp>
        <p:nvSpPr>
          <p:cNvPr id="10" name="cover-stat2-label"/>
          <p:cNvSpPr txBox="1"/>
          <p:nvPr/>
        </p:nvSpPr>
        <p:spPr>
          <a:xfrm>
            <a:off x="3708400" y="5613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North American data center vacancy, H1 2026 — a record low (CBRE)</a:t>
            </a:r>
            <a:endParaRPr lang="en-US" sz="1000" noProof="1"/>
          </a:p>
        </p:txBody>
      </p:sp>
      <p:sp>
        <p:nvSpPr>
          <p:cNvPr id="11" name="cover-div2"/>
          <p:cNvSpPr/>
          <p:nvPr/>
        </p:nvSpPr>
        <p:spPr>
          <a:xfrm>
            <a:off x="6502400" y="5080000"/>
            <a:ext cx="12700" cy="8636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2" name="cover-stat3-num"/>
          <p:cNvSpPr txBox="1"/>
          <p:nvPr/>
        </p:nvSpPr>
        <p:spPr>
          <a:xfrm>
            <a:off x="6807200" y="5029200"/>
            <a:ext cx="3048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~$725B</a:t>
            </a:r>
            <a:endParaRPr lang="en-US" sz="3800" noProof="1"/>
          </a:p>
        </p:txBody>
      </p:sp>
      <p:sp>
        <p:nvSpPr>
          <p:cNvPr id="13" name="cover-stat3-label"/>
          <p:cNvSpPr txBox="1"/>
          <p:nvPr/>
        </p:nvSpPr>
        <p:spPr>
          <a:xfrm>
            <a:off x="6807200" y="56134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Guided 2026 capital expenditure, Big-4 hyperscalers (SEC filings)</a:t>
            </a:r>
            <a:endParaRPr lang="en-US" sz="1000" noProof="1"/>
          </a:p>
        </p:txBody>
      </p:sp>
      <p:sp>
        <p:nvSpPr>
          <p:cNvPr id="14" name="cover-meta"/>
          <p:cNvSpPr txBox="1"/>
          <p:nvPr/>
        </p:nvSpPr>
        <p:spPr>
          <a:xfrm>
            <a:off x="609600" y="6324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Walters &amp; Wolf Curtain Wall, LLC — 4725 116th Street SW, Mukilteo, WA   |   September 2026   |   Board &amp; ownership distribution only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EXECUTIVE SUMMARY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Approve an 18-month, tranche-gated repositioning into mission-critical enclosures — the only financed, growing construction market in our geography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6" name="ask-head"/>
          <p:cNvSpPr txBox="1"/>
          <p:nvPr/>
        </p:nvSpPr>
        <p:spPr>
          <a:xfrm>
            <a:off x="711200" y="16002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decision requested this quarter</a:t>
            </a:r>
            <a:endParaRPr lang="en-US" sz="1300" noProof="1"/>
          </a:p>
        </p:txBody>
      </p:sp>
      <p:sp>
        <p:nvSpPr>
          <p:cNvPr id="7" name="ask-body"/>
          <p:cNvSpPr txBox="1"/>
          <p:nvPr/>
        </p:nvSpPr>
        <p:spPr>
          <a:xfrm>
            <a:off x="711200" y="1879600"/>
            <a:ext cx="6096000" cy="213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Approve </a:t>
            </a:r>
            <a:r>
              <a:rPr lang="en-US" sz="1150" noProof="1" b="1">
                <a:solidFill>
                  <a:srgbClr val="6B6259"/>
                </a:solidFill>
                <a:latin typeface="Quattrocento Sans"/>
                <a:ea typeface="Quattrocento Sans"/>
              </a:rPr>
              <a:t>Tranche 1</a:t>
            </a: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 and the phase calendar — not an 18-month spend. Each subsequent tranche releases only on market-produced evidence: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6B6259"/>
                </a:solidFill>
                <a:latin typeface="Quattrocento Sans"/>
                <a:ea typeface="Quattrocento Sans"/>
              </a:rPr>
              <a:t>T1 — Certify (Mo 1–4):</a:t>
            </a: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 manufacturer installer agreements (CENTRIA / Kingspan / AWIP), ABAA/BECx training, timed mega-panel mock-up bay.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150" noProof="1" b="1">
                <a:solidFill>
                  <a:srgbClr val="6B6259"/>
                </a:solidFill>
                <a:latin typeface="Quattrocento Sans"/>
                <a:ea typeface="Quattrocento Sans"/>
              </a:rPr>
              <a:t>T2 — Pursue (Mo 3–8):</a:t>
            </a: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 prequalification with the six named GC accounts; single-source envelope bid packages.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150" noProof="1" b="1">
                <a:solidFill>
                  <a:srgbClr val="6B6259"/>
                </a:solidFill>
                <a:latin typeface="Quattrocento Sans"/>
                <a:ea typeface="Quattrocento Sans"/>
              </a:rPr>
              <a:t>T3 — Execute (Mo 6–9):</a:t>
            </a: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 releases only on a first envelope subcontract award. </a:t>
            </a:r>
            <a:r>
              <a:rPr lang="en-US" sz="1150" noProof="1" b="1">
                <a:solidFill>
                  <a:srgbClr val="6B6259"/>
                </a:solidFill>
                <a:latin typeface="Quattrocento Sans"/>
                <a:ea typeface="Quattrocento Sans"/>
              </a:rPr>
              <a:t>T4 — Scale (Mo 12–18):</a:t>
            </a: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 funded substantially by project cash flow, gated on first-pass airtightness acceptance.</a:t>
            </a:r>
            <a:endParaRPr lang="en-US" sz="1150" noProof="1"/>
          </a:p>
        </p:txBody>
      </p:sp>
      <p:sp>
        <p:nvSpPr>
          <p:cNvPr id="8" name="ask-safety"/>
          <p:cNvSpPr txBox="1"/>
          <p:nvPr/>
        </p:nvSpPr>
        <p:spPr>
          <a:xfrm>
            <a:off x="711200" y="4191000"/>
            <a:ext cx="6096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6B6259"/>
                </a:solidFill>
                <a:latin typeface="Quattrocento Sans"/>
                <a:ea typeface="Quattrocento Sans"/>
              </a:rPr>
              <a:t>The downside is engineered to be small.</a:t>
            </a:r>
            <a:r>
              <a:rPr lang="en-US" sz="1150" noProof="1">
                <a:solidFill>
                  <a:srgbClr val="6B6259"/>
                </a:solidFill>
                <a:latin typeface="Quattrocento Sans"/>
                <a:ea typeface="Quattrocento Sans"/>
              </a:rPr>
              <a:t> Kill criteria are fixed in writing before the first dollar moves: no manufacturer agreement within two quarters halts at certification spend; no qualified pipeline after Phase 2 halts Tranche 3; failed acceptance tests stop expansion. The retained curtain-wall platform continues serving institutional, healthcare, and renovation work and shares fixed costs with the new line.</a:t>
            </a:r>
            <a:endParaRPr lang="en-US" sz="1150" noProof="1"/>
          </a:p>
        </p:txBody>
      </p:sp>
      <p:sp>
        <p:nvSpPr>
          <p:cNvPr id="9" name="ask-divider"/>
          <p:cNvSpPr/>
          <p:nvPr/>
        </p:nvSpPr>
        <p:spPr>
          <a:xfrm>
            <a:off x="7061200" y="1600200"/>
            <a:ext cx="12700" cy="45212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0" name="ev-head"/>
          <p:cNvSpPr txBox="1"/>
          <p:nvPr/>
        </p:nvSpPr>
        <p:spPr>
          <a:xfrm>
            <a:off x="7366000" y="1600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evidence in five numbers</a:t>
            </a:r>
            <a:endParaRPr lang="en-US" sz="1300" noProof="1"/>
          </a:p>
        </p:txBody>
      </p:sp>
      <p:sp>
        <p:nvSpPr>
          <p:cNvPr id="11" name="ev1-num"/>
          <p:cNvSpPr txBox="1"/>
          <p:nvPr/>
        </p:nvSpPr>
        <p:spPr>
          <a:xfrm>
            <a:off x="7366000" y="19050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A05238"/>
                </a:solidFill>
                <a:latin typeface="Unna"/>
                <a:ea typeface="Unna"/>
              </a:rPr>
              <a:t>35.8%</a:t>
            </a:r>
            <a:endParaRPr lang="en-US" sz="2600" noProof="1"/>
          </a:p>
        </p:txBody>
      </p:sp>
      <p:sp>
        <p:nvSpPr>
          <p:cNvPr id="12" name="ev1-text"/>
          <p:cNvSpPr txBox="1"/>
          <p:nvPr/>
        </p:nvSpPr>
        <p:spPr>
          <a:xfrm>
            <a:off x="8890000" y="1905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Downtown Seattle office vacancy; regional construction pipeline down 99% from the 2023 peak</a:t>
            </a:r>
            <a:endParaRPr lang="en-US" sz="1000" noProof="1"/>
          </a:p>
        </p:txBody>
      </p:sp>
      <p:sp>
        <p:nvSpPr>
          <p:cNvPr id="13" name="ev-rule1"/>
          <p:cNvSpPr/>
          <p:nvPr/>
        </p:nvSpPr>
        <p:spPr>
          <a:xfrm>
            <a:off x="7366000" y="2489200"/>
            <a:ext cx="4318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4" name="ev2-num"/>
          <p:cNvSpPr txBox="1"/>
          <p:nvPr/>
        </p:nvSpPr>
        <p:spPr>
          <a:xfrm>
            <a:off x="7366000" y="26416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A05238"/>
                </a:solidFill>
                <a:latin typeface="Unna"/>
                <a:ea typeface="Unna"/>
              </a:rPr>
              <a:t>10,903</a:t>
            </a:r>
            <a:endParaRPr lang="en-US" sz="2600" noProof="1"/>
          </a:p>
        </p:txBody>
      </p:sp>
      <p:sp>
        <p:nvSpPr>
          <p:cNvPr id="15" name="ev2-text"/>
          <p:cNvSpPr txBox="1"/>
          <p:nvPr/>
        </p:nvSpPr>
        <p:spPr>
          <a:xfrm>
            <a:off x="8890000" y="26416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MW of North American data center inventory, +33.7% YoY; vacancy a record-low 1.4%; 80.4% pre-leased</a:t>
            </a:r>
            <a:endParaRPr lang="en-US" sz="1000" noProof="1"/>
          </a:p>
        </p:txBody>
      </p:sp>
      <p:sp>
        <p:nvSpPr>
          <p:cNvPr id="16" name="ev-rule2"/>
          <p:cNvSpPr/>
          <p:nvPr/>
        </p:nvSpPr>
        <p:spPr>
          <a:xfrm>
            <a:off x="7366000" y="3225800"/>
            <a:ext cx="4318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7" name="ev3-num"/>
          <p:cNvSpPr txBox="1"/>
          <p:nvPr/>
        </p:nvSpPr>
        <p:spPr>
          <a:xfrm>
            <a:off x="7366000" y="33782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A05238"/>
                </a:solidFill>
                <a:latin typeface="Unna"/>
                <a:ea typeface="Unna"/>
              </a:rPr>
              <a:t>372→750</a:t>
            </a:r>
            <a:endParaRPr lang="en-US" sz="2600" noProof="1"/>
          </a:p>
        </p:txBody>
      </p:sp>
      <p:sp>
        <p:nvSpPr>
          <p:cNvPr id="18" name="ev3-text"/>
          <p:cNvSpPr txBox="1"/>
          <p:nvPr/>
        </p:nvSpPr>
        <p:spPr>
          <a:xfrm>
            <a:off x="8890000" y="33782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MW power expansion under way in Quincy; Hillsboro vacancy 0.2% — the tightest market in the U.S.</a:t>
            </a:r>
            <a:endParaRPr lang="en-US" sz="1000" noProof="1"/>
          </a:p>
        </p:txBody>
      </p:sp>
      <p:sp>
        <p:nvSpPr>
          <p:cNvPr id="19" name="ev-rule3"/>
          <p:cNvSpPr/>
          <p:nvPr/>
        </p:nvSpPr>
        <p:spPr>
          <a:xfrm>
            <a:off x="7366000" y="3962400"/>
            <a:ext cx="4318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20" name="ev4-num"/>
          <p:cNvSpPr txBox="1"/>
          <p:nvPr/>
        </p:nvSpPr>
        <p:spPr>
          <a:xfrm>
            <a:off x="7366000" y="41148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A05238"/>
                </a:solidFill>
                <a:latin typeface="Unna"/>
                <a:ea typeface="Unna"/>
              </a:rPr>
              <a:t>20–50%</a:t>
            </a:r>
            <a:endParaRPr lang="en-US" sz="2600" noProof="1"/>
          </a:p>
        </p:txBody>
      </p:sp>
      <p:sp>
        <p:nvSpPr>
          <p:cNvPr id="21" name="ev4-text"/>
          <p:cNvSpPr txBox="1"/>
          <p:nvPr/>
        </p:nvSpPr>
        <p:spPr>
          <a:xfrm>
            <a:off x="8890000" y="41148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Schedule compression from prefabricated enclosure systems (peer-reviewed + McKinsey); LDs up to $100K/day</a:t>
            </a:r>
            <a:endParaRPr lang="en-US" sz="1000" noProof="1"/>
          </a:p>
        </p:txBody>
      </p:sp>
      <p:sp>
        <p:nvSpPr>
          <p:cNvPr id="22" name="ev-rule4"/>
          <p:cNvSpPr/>
          <p:nvPr/>
        </p:nvSpPr>
        <p:spPr>
          <a:xfrm>
            <a:off x="7366000" y="4699000"/>
            <a:ext cx="4318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23" name="ev5-num"/>
          <p:cNvSpPr txBox="1"/>
          <p:nvPr/>
        </p:nvSpPr>
        <p:spPr>
          <a:xfrm>
            <a:off x="7366000" y="4851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A05238"/>
                </a:solidFill>
                <a:latin typeface="Unna"/>
                <a:ea typeface="Unna"/>
              </a:rPr>
              <a:t>$556.8B</a:t>
            </a:r>
            <a:endParaRPr lang="en-US" sz="2600" noProof="1"/>
          </a:p>
        </p:txBody>
      </p:sp>
      <p:sp>
        <p:nvSpPr>
          <p:cNvPr id="24" name="ev5-text"/>
          <p:cNvSpPr txBox="1"/>
          <p:nvPr/>
        </p:nvSpPr>
        <p:spPr>
          <a:xfrm>
            <a:off x="8890000" y="48514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National office value destruction — peer-reviewed, American Economic Review (2026)</a:t>
            </a:r>
            <a:endParaRPr lang="en-US" sz="1000" noProof="1"/>
          </a:p>
        </p:txBody>
      </p:sp>
      <p:sp>
        <p:nvSpPr>
          <p:cNvPr id="25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full proposal document, Chapters 1–10; evidence base of 10 research dimension files with numbered references.</a:t>
            </a:r>
            <a:endParaRPr lang="en-US" sz="1000" noProof="1"/>
          </a:p>
        </p:txBody>
      </p:sp>
      <p:sp>
        <p:nvSpPr>
          <p:cNvPr id="26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THE LEGACY MARKET · 1 OF 3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The office decline is structural and published — peer-reviewed economics has closed the question our backlog depends on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6" name="left-head"/>
          <p:cNvSpPr txBox="1"/>
          <p:nvPr/>
        </p:nvSpPr>
        <p:spPr>
          <a:xfrm>
            <a:off x="711200" y="16002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Three independent lines of evidence converge</a:t>
            </a:r>
            <a:endParaRPr lang="en-US" sz="1300" noProof="1"/>
          </a:p>
        </p:txBody>
      </p:sp>
      <p:sp>
        <p:nvSpPr>
          <p:cNvPr id="7" name="left-body"/>
          <p:cNvSpPr txBox="1"/>
          <p:nvPr/>
        </p:nvSpPr>
        <p:spPr>
          <a:xfrm>
            <a:off x="711200" y="1905000"/>
            <a:ext cx="660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1 · Published economics.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Gupta, Mittal &amp; Van Nieuwerburgh, </a:t>
            </a:r>
            <a:r>
              <a:rPr lang="en-US" sz="1200" noProof="1" i="1">
                <a:solidFill>
                  <a:srgbClr val="2E2A26"/>
                </a:solidFill>
                <a:latin typeface="Quattrocento Sans"/>
                <a:ea typeface="Quattrocento Sans"/>
              </a:rPr>
              <a:t>American Economic Review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116(2), 2026: a 46% long-run decline in NYC office values and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$556.8B of national office value destruction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, driven by persistent remote work — with commodity offices, the historical curtain-wall base, at stranding risk.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2 · Behavior has stabilized, not reverted.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Barrero, Bloom &amp; Davis (250k-response panel, Feb 2026): work-from-home is stable at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~25% of paid days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— 3.5× the 2019 level — and planned RTO tightening moves it less than 0.5pp. A </a:t>
            </a:r>
            <a:r>
              <a:rPr lang="en-US" sz="1200" noProof="1" i="1">
                <a:solidFill>
                  <a:srgbClr val="2E2A26"/>
                </a:solidFill>
                <a:latin typeface="Quattrocento Sans"/>
                <a:ea typeface="Quattrocento Sans"/>
              </a:rPr>
              <a:t>Nature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(2024) randomized trial shows hybrid cuts quits by a third with no performance loss.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3 · National corroboration.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U.S. office vacancy set another all-time record of 21.0% in Q1 2026 (Moody's); Kastle badge-swipe attendance peaked at just 56.3% of pre-pandemic levels.</a:t>
            </a:r>
            <a:endParaRPr lang="en-US" sz="1200" noProof="1"/>
          </a:p>
        </p:txBody>
      </p:sp>
      <p:sp>
        <p:nvSpPr>
          <p:cNvPr id="8" name="left-bignum1"/>
          <p:cNvSpPr txBox="1"/>
          <p:nvPr/>
        </p:nvSpPr>
        <p:spPr>
          <a:xfrm>
            <a:off x="711200" y="4648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A05238"/>
                </a:solidFill>
                <a:latin typeface="Unna"/>
                <a:ea typeface="Unna"/>
              </a:rPr>
              <a:t>~25%</a:t>
            </a:r>
            <a:endParaRPr lang="en-US" sz="3400" noProof="1"/>
          </a:p>
        </p:txBody>
      </p:sp>
      <p:sp>
        <p:nvSpPr>
          <p:cNvPr id="9" name="left-bignum1-label"/>
          <p:cNvSpPr txBox="1"/>
          <p:nvPr/>
        </p:nvSpPr>
        <p:spPr>
          <a:xfrm>
            <a:off x="711200" y="51816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of paid days worked from home — a plateau, not a trend back</a:t>
            </a:r>
            <a:endParaRPr lang="en-US" sz="1000" noProof="1"/>
          </a:p>
        </p:txBody>
      </p:sp>
      <p:sp>
        <p:nvSpPr>
          <p:cNvPr id="10" name="left-bignum-sep"/>
          <p:cNvSpPr/>
          <p:nvPr/>
        </p:nvSpPr>
        <p:spPr>
          <a:xfrm>
            <a:off x="2997200" y="4699000"/>
            <a:ext cx="12700" cy="8890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1" name="left-bignum2"/>
          <p:cNvSpPr txBox="1"/>
          <p:nvPr/>
        </p:nvSpPr>
        <p:spPr>
          <a:xfrm>
            <a:off x="3302000" y="4648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A05238"/>
                </a:solidFill>
                <a:latin typeface="Unna"/>
                <a:ea typeface="Unna"/>
              </a:rPr>
              <a:t>21.0%</a:t>
            </a:r>
            <a:endParaRPr lang="en-US" sz="3400" noProof="1"/>
          </a:p>
        </p:txBody>
      </p:sp>
      <p:sp>
        <p:nvSpPr>
          <p:cNvPr id="12" name="left-bignum2-label"/>
          <p:cNvSpPr txBox="1"/>
          <p:nvPr/>
        </p:nvSpPr>
        <p:spPr>
          <a:xfrm>
            <a:off x="3302000" y="51816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U.S. office vacancy, Q1 2026 — the highest since at least 1979</a:t>
            </a:r>
            <a:endParaRPr lang="en-US" sz="1000" noProof="1"/>
          </a:p>
        </p:txBody>
      </p:sp>
      <p:sp>
        <p:nvSpPr>
          <p:cNvPr id="13" name="right-divider"/>
          <p:cNvSpPr/>
          <p:nvPr/>
        </p:nvSpPr>
        <p:spPr>
          <a:xfrm>
            <a:off x="7823200" y="1600200"/>
            <a:ext cx="12700" cy="45212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4" name="right-head"/>
          <p:cNvSpPr txBox="1"/>
          <p:nvPr/>
        </p:nvSpPr>
        <p:spPr>
          <a:xfrm>
            <a:off x="8128000" y="16002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recovery case, steel-manned — and resolved</a:t>
            </a:r>
            <a:endParaRPr lang="en-US" sz="1300" noProof="1"/>
          </a:p>
        </p:txBody>
      </p:sp>
      <p:sp>
        <p:nvSpPr>
          <p:cNvPr id="15" name="right-body"/>
          <p:cNvSpPr txBox="1"/>
          <p:nvPr/>
        </p:nvSpPr>
        <p:spPr>
          <a:xfrm>
            <a:off x="8128000" y="1905000"/>
            <a:ext cx="3556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The honest counter: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97% of Fortune 100 employees now work under RTO rules averaging 4.0 days/week; U.S. leasing volume set a post-pandemic high in Q2 2026; sublease availability is down sharply.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Why it resolves to a lower equilibrium, not recovery: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· Mandates are not attendance — badge swipes sit near half of 2019.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· Leasing volume is churn — renewals and downsizing — not net demand: 10 of 13 recent quarters posted negative net absorption.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· The recovery is K-shaped, concentrating in prime assets while commodity stock faces conversion or demolition — work that does not consume unitized curtain wall.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Implication for ownership: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demand resets 20–30% below the level the Mukilteo business was built to serve, and stays there. Waiting is not a strategy; it is a decision to burn fixed plant capacity against a shrinking backlog.</a:t>
            </a:r>
            <a:endParaRPr lang="en-US" sz="1100" noProof="1"/>
          </a:p>
        </p:txBody>
      </p:sp>
      <p:sp>
        <p:nvSpPr>
          <p:cNvPr id="16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Gupta et al., AER 116(2) 2026; Barrero/Bloom/Davis SWAA Feb-2026; Nature 2024; Moody's Analytics Q1 2026; Kastle Systems.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THE LEGACY MARKET · 2 OF 3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Puget Sound ground truth: every submarket at generational extremes, and a construction pipeline down 99% from peak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pic>
        <p:nvPicPr>
          <p:cNvPr id="6" name="chart"/>
          <p:cNvPicPr/>
          <p:nvPr/>
        </p:nvPicPr>
        <p:blipFill>
          <a:blip r:embed="rId2"/>
          <a:srcRect t="-3" b="-3"/>
          <a:stretch>
            <a:fillRect/>
          </a:stretch>
        </p:blipFill>
        <p:spPr>
          <a:xfrm>
            <a:off x="508000" y="1600200"/>
            <a:ext cx="5969000" cy="2692400"/>
          </a:xfrm>
          <a:prstGeom prst="rect">
            <a:avLst/>
          </a:prstGeom>
          <a:ln>
            <a:noFill/>
          </a:ln>
        </p:spPr>
      </p:pic>
      <p:sp>
        <p:nvSpPr>
          <p:cNvPr id="7" name="chart-note"/>
          <p:cNvSpPr txBox="1"/>
          <p:nvPr/>
        </p:nvSpPr>
        <p:spPr>
          <a:xfrm>
            <a:off x="508000" y="43434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Developers with their own equity at risk have voted: 123,667 SF under construction across four projects metro-wide (Q2 2026), vs. ~7.5M SF at the 2023 peak. Amazon's Bellevue 600 Phase 2 is on indefinite hold — its site is now a temporary park.</a:t>
            </a:r>
            <a:endParaRPr lang="en-US" sz="1000" noProof="1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6781800" y="1600200"/>
          <a:ext cx="4902200" cy="2743200"/>
        </p:xfrm>
        <a:graphic>
          <a:graphicData uri="http://schemas.openxmlformats.org/drawingml/2006/table">
            <a:tbl>
              <a:tblPr/>
              <a:tblGrid>
                <a:gridCol w="1666748"/>
                <a:gridCol w="1078484"/>
                <a:gridCol w="2156968"/>
              </a:tblGrid>
              <a:tr h="43891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Submarket (Q2 2026)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Vacancy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Value destruction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</a:tr>
              <a:tr h="5760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Downtown Seattle CBD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35.8%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−$15B / −46% since 2020 (Assessor)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Seattle Close-In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28.2%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Icon towers −53% to −62% since 2022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5760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Bellevue CBD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23.2%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−$1.61B / −19% (2022–25), all downtown offices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East King County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21.0%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The "outperformer" still carries one-fifth empty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"/>
          <p:cNvSpPr txBox="1"/>
          <p:nvPr/>
        </p:nvSpPr>
        <p:spPr>
          <a:xfrm>
            <a:off x="6781800" y="4419600"/>
            <a:ext cx="4902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No refuge submarket exists in this downturn. Downtown foot traffic remains at 60–64% of 2019 despite Amazon's five-day mandate; the Assessor calculates downtown would need ~8 years to refill even if demand returned tomorrow.</a:t>
            </a:r>
            <a:endParaRPr lang="en-US" sz="1000" noProof="1"/>
          </a:p>
        </p:txBody>
      </p:sp>
      <p:sp>
        <p:nvSpPr>
          <p:cNvPr id="10" name="implication-rule"/>
          <p:cNvSpPr/>
          <p:nvPr/>
        </p:nvSpPr>
        <p:spPr>
          <a:xfrm>
            <a:off x="508000" y="50800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1" name="implication"/>
          <p:cNvSpPr txBox="1"/>
          <p:nvPr/>
        </p:nvSpPr>
        <p:spPr>
          <a:xfrm>
            <a:off x="508000" y="5257800"/>
            <a:ext cx="1117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So what for Mukilteo: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vacancy stabilization headlines in coming quarters will reflect this supply collapse and conversion-driven stock shrinkage — exactly the mechanism the peer-reviewed literature predicts — not returning demand. A curtain-wall backlog cannot be rebuilt on demolition and residential conversion work that consumes no unitized envelope systems. The branch's fixed capacity must go where construction capital is actually flowing.</a:t>
            </a:r>
            <a:endParaRPr lang="en-US" sz="1200" noProof="1"/>
          </a:p>
        </p:txBody>
      </p:sp>
      <p:sp>
        <p:nvSpPr>
          <p:cNvPr id="12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Cushman &amp; Wakefield Seattle/Bellevue MarketBeat Q2 2026; Kidder Mathews Seattle Office Market Report Q2 2026; King County Assessor via Seattle Times; Moody's Analytics.</a:t>
            </a:r>
            <a:endParaRPr lang="en-US" sz="10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THE LEGACY MARKET · 3 OF 3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The capital freeze is the binding mechanism: roughly $2.5 trillion of CRE debt matures 2025–2027, and office cannot clear the financing committee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6" name="num1"/>
          <p:cNvSpPr txBox="1"/>
          <p:nvPr/>
        </p:nvSpPr>
        <p:spPr>
          <a:xfrm>
            <a:off x="711200" y="170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A05238"/>
                </a:solidFill>
                <a:latin typeface="Unna"/>
                <a:ea typeface="Unna"/>
              </a:rPr>
              <a:t>$957B</a:t>
            </a:r>
            <a:endParaRPr lang="en-US" sz="3200" noProof="1"/>
          </a:p>
        </p:txBody>
      </p:sp>
      <p:sp>
        <p:nvSpPr>
          <p:cNvPr id="7" name="num1-label"/>
          <p:cNvSpPr txBox="1"/>
          <p:nvPr/>
        </p:nvSpPr>
        <p:spPr>
          <a:xfrm>
            <a:off x="711200" y="22606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Commercial mortgages maturing in 2025, on MBA's lender-held measure</a:t>
            </a:r>
            <a:endParaRPr lang="en-US" sz="1000" noProof="1"/>
          </a:p>
        </p:txBody>
      </p:sp>
      <p:sp>
        <p:nvSpPr>
          <p:cNvPr id="8" name="num-sep1"/>
          <p:cNvSpPr/>
          <p:nvPr/>
        </p:nvSpPr>
        <p:spPr>
          <a:xfrm>
            <a:off x="3175000" y="1778000"/>
            <a:ext cx="12700" cy="10160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9" name="num2"/>
          <p:cNvSpPr txBox="1"/>
          <p:nvPr/>
        </p:nvSpPr>
        <p:spPr>
          <a:xfrm>
            <a:off x="3479800" y="170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A05238"/>
                </a:solidFill>
                <a:latin typeface="Unna"/>
                <a:ea typeface="Unna"/>
              </a:rPr>
              <a:t>$875B</a:t>
            </a:r>
            <a:endParaRPr lang="en-US" sz="3200" noProof="1"/>
          </a:p>
        </p:txBody>
      </p:sp>
      <p:sp>
        <p:nvSpPr>
          <p:cNvPr id="10" name="num2-label"/>
          <p:cNvSpPr txBox="1"/>
          <p:nvPr/>
        </p:nvSpPr>
        <p:spPr>
          <a:xfrm>
            <a:off x="3479800" y="22606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Maturing in 2026, and $652B in 2027 — ~$2.5T through the wall, not a single-year spike</a:t>
            </a:r>
            <a:endParaRPr lang="en-US" sz="1000" noProof="1"/>
          </a:p>
        </p:txBody>
      </p:sp>
      <p:sp>
        <p:nvSpPr>
          <p:cNvPr id="11" name="num-sep2"/>
          <p:cNvSpPr/>
          <p:nvPr/>
        </p:nvSpPr>
        <p:spPr>
          <a:xfrm>
            <a:off x="5943600" y="1778000"/>
            <a:ext cx="12700" cy="10160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2" name="num3"/>
          <p:cNvSpPr txBox="1"/>
          <p:nvPr/>
        </p:nvSpPr>
        <p:spPr>
          <a:xfrm>
            <a:off x="6248400" y="17018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A05238"/>
                </a:solidFill>
                <a:latin typeface="Unna"/>
                <a:ea typeface="Unna"/>
              </a:rPr>
              <a:t>12.34%</a:t>
            </a:r>
            <a:endParaRPr lang="en-US" sz="3200" noProof="1"/>
          </a:p>
        </p:txBody>
      </p:sp>
      <p:sp>
        <p:nvSpPr>
          <p:cNvPr id="13" name="num3-label"/>
          <p:cNvSpPr txBox="1"/>
          <p:nvPr/>
        </p:nvSpPr>
        <p:spPr>
          <a:xfrm>
            <a:off x="6248400" y="22606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Office CMBS delinquency — an all-time record, above the GFC-era peak (Trepp, Jan 2026)</a:t>
            </a:r>
            <a:endParaRPr lang="en-US" sz="1000" noProof="1"/>
          </a:p>
        </p:txBody>
      </p:sp>
      <p:sp>
        <p:nvSpPr>
          <p:cNvPr id="14" name="num-sep3"/>
          <p:cNvSpPr/>
          <p:nvPr/>
        </p:nvSpPr>
        <p:spPr>
          <a:xfrm>
            <a:off x="8712200" y="1778000"/>
            <a:ext cx="12700" cy="10160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5" name="num4"/>
          <p:cNvSpPr txBox="1"/>
          <p:nvPr/>
        </p:nvSpPr>
        <p:spPr>
          <a:xfrm>
            <a:off x="9017000" y="17018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A05238"/>
                </a:solidFill>
                <a:latin typeface="Unna"/>
                <a:ea typeface="Unna"/>
              </a:rPr>
              <a:t>32%</a:t>
            </a:r>
            <a:endParaRPr lang="en-US" sz="3200" noProof="1"/>
          </a:p>
        </p:txBody>
      </p:sp>
      <p:sp>
        <p:nvSpPr>
          <p:cNvPr id="16" name="num4-label"/>
          <p:cNvSpPr txBox="1"/>
          <p:nvPr/>
        </p:nvSpPr>
        <p:spPr>
          <a:xfrm>
            <a:off x="9017000" y="22606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Office conduit loans that refinanced in 2024 — vs. ~85% for industrial, multifamily, and retail (IMF)</a:t>
            </a:r>
            <a:endParaRPr lang="en-US" sz="1000" noProof="1"/>
          </a:p>
        </p:txBody>
      </p:sp>
      <p:sp>
        <p:nvSpPr>
          <p:cNvPr id="17" name="body"/>
          <p:cNvSpPr txBox="1"/>
          <p:nvPr/>
        </p:nvSpPr>
        <p:spPr>
          <a:xfrm>
            <a:off x="711200" y="3124200"/>
            <a:ext cx="6604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This is not a sentiment cycle. Only 32% of maturing office conduit loans refinanced in 2024, and NBER data puts 44% of office loans in negative equity with 64% facing a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debt-service-coverage shortfall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— they cannot refinance at prevailing values regardless of market optimism. Lenders are reappraising, not waiting: 2025 CMBS workouts cleared at a median 53% discount to origination value, with office carrying more than half that balance.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The consequence for subcontractors: even projects with willing owners cannot clear financing committees, and the national office construction pipeline sits at its lowest level since the 1990s.</a:t>
            </a:r>
            <a:endParaRPr lang="en-US" sz="1200" noProof="1"/>
          </a:p>
        </p:txBody>
      </p:sp>
      <p:sp>
        <p:nvSpPr>
          <p:cNvPr id="18" name="right-divider"/>
          <p:cNvSpPr/>
          <p:nvPr/>
        </p:nvSpPr>
        <p:spPr>
          <a:xfrm>
            <a:off x="7823200" y="3124200"/>
            <a:ext cx="12700" cy="27940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9" name="right-head"/>
          <p:cNvSpPr txBox="1"/>
          <p:nvPr/>
        </p:nvSpPr>
        <p:spPr>
          <a:xfrm>
            <a:off x="8128000" y="31242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one asset class escaping the freeze</a:t>
            </a:r>
            <a:endParaRPr lang="en-US" sz="1300" noProof="1"/>
          </a:p>
        </p:txBody>
      </p:sp>
      <p:sp>
        <p:nvSpPr>
          <p:cNvPr id="20" name="right-body"/>
          <p:cNvSpPr txBox="1"/>
          <p:nvPr/>
        </p:nvSpPr>
        <p:spPr>
          <a:xfrm>
            <a:off x="8128000" y="3403600"/>
            <a:ext cx="3556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The same credit system that will not finance an office tower is financing data centers at scale: </a:t>
            </a: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lenders committed $121B to US data-center properties in 2025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, and data-center ABS/CMBS issuance more than doubled to ~$26B — private capital stepping in where traditional office lenders retreat.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Capital is not leaving construction — it is rotating toward assets whose demand is contracted, pre-leased, and balance-sheet-backed. The question is not whether to follow it, but whether we can build what it is buying.</a:t>
            </a:r>
            <a:endParaRPr lang="en-US" sz="1100" noProof="1"/>
          </a:p>
        </p:txBody>
      </p:sp>
      <p:sp>
        <p:nvSpPr>
          <p:cNvPr id="21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MBA maturity survey; Trepp CMBS Delinquency Report (Jan 2026); IMF Global Financial Stability Report; NBER WP 31970; S&amp;P Global data-center credit tracking; proposal Ch. 2.</a:t>
            </a:r>
            <a:endParaRPr lang="en-US" sz="1000" noProof="1"/>
          </a:p>
        </p:txBody>
      </p:sp>
      <p:sp>
        <p:nvSpPr>
          <p:cNvPr id="22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THE TARGET MARKET · 1 OF 2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The destination is verified: 10,903 MW of supply, 1.4% vacancy, and a 7,481 MW construction pipeline that is 80.4% pre-leased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6" name="bn1"/>
          <p:cNvSpPr txBox="1"/>
          <p:nvPr/>
        </p:nvSpPr>
        <p:spPr>
          <a:xfrm>
            <a:off x="711200" y="16764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10,903 MW</a:t>
            </a:r>
            <a:endParaRPr lang="en-US" sz="3800" noProof="1"/>
          </a:p>
        </p:txBody>
      </p:sp>
      <p:sp>
        <p:nvSpPr>
          <p:cNvPr id="7" name="bn1-label"/>
          <p:cNvSpPr txBox="1"/>
          <p:nvPr/>
        </p:nvSpPr>
        <p:spPr>
          <a:xfrm>
            <a:off x="711200" y="22352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North American primary-market inventory, +33.7% YoY (CBRE H1 2026)</a:t>
            </a:r>
            <a:endParaRPr lang="en-US" sz="1000" noProof="1"/>
          </a:p>
        </p:txBody>
      </p:sp>
      <p:sp>
        <p:nvSpPr>
          <p:cNvPr id="8" name="bn-sep1"/>
          <p:cNvSpPr/>
          <p:nvPr/>
        </p:nvSpPr>
        <p:spPr>
          <a:xfrm>
            <a:off x="3454400" y="1752600"/>
            <a:ext cx="12700" cy="9906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9" name="bn2"/>
          <p:cNvSpPr txBox="1"/>
          <p:nvPr/>
        </p:nvSpPr>
        <p:spPr>
          <a:xfrm>
            <a:off x="3759200" y="1676400"/>
            <a:ext cx="228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1.4%</a:t>
            </a:r>
            <a:endParaRPr lang="en-US" sz="3800" noProof="1"/>
          </a:p>
        </p:txBody>
      </p:sp>
      <p:sp>
        <p:nvSpPr>
          <p:cNvPr id="10" name="bn2-label"/>
          <p:cNvSpPr txBox="1"/>
          <p:nvPr/>
        </p:nvSpPr>
        <p:spPr>
          <a:xfrm>
            <a:off x="3759200" y="2235200"/>
            <a:ext cx="228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Vacancy across all North American primary markets — a record low</a:t>
            </a:r>
            <a:endParaRPr lang="en-US" sz="1000" noProof="1"/>
          </a:p>
        </p:txBody>
      </p:sp>
      <p:sp>
        <p:nvSpPr>
          <p:cNvPr id="11" name="bn-sep2"/>
          <p:cNvSpPr/>
          <p:nvPr/>
        </p:nvSpPr>
        <p:spPr>
          <a:xfrm>
            <a:off x="6248400" y="1752600"/>
            <a:ext cx="12700" cy="9906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2" name="bn3"/>
          <p:cNvSpPr txBox="1"/>
          <p:nvPr/>
        </p:nvSpPr>
        <p:spPr>
          <a:xfrm>
            <a:off x="6553200" y="1676400"/>
            <a:ext cx="2413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7,481 MW</a:t>
            </a:r>
            <a:endParaRPr lang="en-US" sz="3800" noProof="1"/>
          </a:p>
        </p:txBody>
      </p:sp>
      <p:sp>
        <p:nvSpPr>
          <p:cNvPr id="13" name="bn3-label"/>
          <p:cNvSpPr txBox="1"/>
          <p:nvPr/>
        </p:nvSpPr>
        <p:spPr>
          <a:xfrm>
            <a:off x="6553200" y="2235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Under construction — and 80.4% of it already pre-leased</a:t>
            </a:r>
            <a:endParaRPr lang="en-US" sz="1000" noProof="1"/>
          </a:p>
        </p:txBody>
      </p:sp>
      <p:sp>
        <p:nvSpPr>
          <p:cNvPr id="14" name="bn-sep3"/>
          <p:cNvSpPr/>
          <p:nvPr/>
        </p:nvSpPr>
        <p:spPr>
          <a:xfrm>
            <a:off x="9169400" y="1752600"/>
            <a:ext cx="12700" cy="9906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5" name="bn4"/>
          <p:cNvSpPr txBox="1"/>
          <p:nvPr/>
        </p:nvSpPr>
        <p:spPr>
          <a:xfrm>
            <a:off x="9474200" y="1676400"/>
            <a:ext cx="2209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A05238"/>
                </a:solidFill>
                <a:latin typeface="Unna"/>
                <a:ea typeface="Unna"/>
              </a:rPr>
              <a:t>~$725B</a:t>
            </a:r>
            <a:endParaRPr lang="en-US" sz="3800" noProof="1"/>
          </a:p>
        </p:txBody>
      </p:sp>
      <p:sp>
        <p:nvSpPr>
          <p:cNvPr id="16" name="bn4-label"/>
          <p:cNvSpPr txBox="1"/>
          <p:nvPr/>
        </p:nvSpPr>
        <p:spPr>
          <a:xfrm>
            <a:off x="9474200" y="2235200"/>
            <a:ext cx="2209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Combined Big-4 hyperscaler capex guidance for 2026 (SEC filings)</a:t>
            </a:r>
            <a:endParaRPr lang="en-US" sz="1000" noProof="1"/>
          </a:p>
        </p:txBody>
      </p:sp>
      <p:pic>
        <p:nvPicPr>
          <p:cNvPr id="17" name="chart"/>
          <p:cNvPicPr/>
          <p:nvPr/>
        </p:nvPicPr>
        <p:blipFill>
          <a:blip r:embed="rId2"/>
          <a:srcRect l="-9592" r="-9592"/>
          <a:stretch>
            <a:fillRect/>
          </a:stretch>
        </p:blipFill>
        <p:spPr>
          <a:xfrm>
            <a:off x="508000" y="2946400"/>
            <a:ext cx="5588000" cy="2946400"/>
          </a:xfrm>
          <a:prstGeom prst="rect">
            <a:avLst/>
          </a:prstGeom>
          <a:ln>
            <a:noFill/>
          </a:ln>
        </p:spPr>
      </p:pic>
      <p:sp>
        <p:nvSpPr>
          <p:cNvPr id="18" name="right-divider"/>
          <p:cNvSpPr/>
          <p:nvPr/>
        </p:nvSpPr>
        <p:spPr>
          <a:xfrm>
            <a:off x="6451600" y="2946400"/>
            <a:ext cx="12700" cy="29464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9" name="right-head"/>
          <p:cNvSpPr txBox="1"/>
          <p:nvPr/>
        </p:nvSpPr>
        <p:spPr>
          <a:xfrm>
            <a:off x="6756400" y="2946400"/>
            <a:ext cx="492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Why this demand is different in kind</a:t>
            </a:r>
            <a:endParaRPr lang="en-US" sz="1300" noProof="1"/>
          </a:p>
        </p:txBody>
      </p:sp>
      <p:sp>
        <p:nvSpPr>
          <p:cNvPr id="20" name="right-body"/>
          <p:cNvSpPr txBox="1"/>
          <p:nvPr/>
        </p:nvSpPr>
        <p:spPr>
          <a:xfrm>
            <a:off x="6756400" y="3225800"/>
            <a:ext cx="49276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Hyperscaler capex has compounded from ~$93B (2021) to ~$725B guided for 2026 — Amazon ~$200B, Alphabet ~$185B, Microsoft ~$190B, Meta ~$135B — each figure audited into SEC filings, not press-release aspiration.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Every megawatt of that spend lands inside a building envelope. At 80.4% pre-leasing, the construction pipeline is backed by signed commitments — the precise inverse of the speculative office market this company grew up serving.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Implication: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this is the one construction market whose backlog is financed, contracted, and expanding faster than the supply chain can deliver it — which is precisely where schedule-critical envelope subcontractors command pricing power.</a:t>
            </a:r>
            <a:endParaRPr lang="en-US" sz="1200" noProof="1"/>
          </a:p>
        </p:txBody>
      </p:sp>
      <p:sp>
        <p:nvSpPr>
          <p:cNvPr id="21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CBRE North America Data Center Trends H1 2026; company 10-K/10-Q filings and FY2026 capex guidance (Amazon, Alphabet, Microsoft, Meta).</a:t>
            </a:r>
            <a:endParaRPr lang="en-US" sz="1000" noProof="1"/>
          </a:p>
        </p:txBody>
      </p:sp>
      <p:sp>
        <p:nvSpPr>
          <p:cNvPr id="22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THE TARGET MARKET · 2 OF 2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The capital rotation is financing-verified — and the bear case, taken seriously, argues for tranche gates rather than against the pivot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pic>
        <p:nvPicPr>
          <p:cNvPr id="6" name="chart"/>
          <p:cNvPicPr/>
          <p:nvPr/>
        </p:nvPicPr>
        <p:blipFill>
          <a:blip r:embed="rId2"/>
          <a:srcRect l="-40" r="-40"/>
          <a:stretch>
            <a:fillRect/>
          </a:stretch>
        </p:blipFill>
        <p:spPr>
          <a:xfrm>
            <a:off x="508000" y="1600200"/>
            <a:ext cx="5461000" cy="2743200"/>
          </a:xfrm>
          <a:prstGeom prst="rect">
            <a:avLst/>
          </a:prstGeom>
          <a:ln>
            <a:noFill/>
          </a:ln>
        </p:spPr>
      </p:pic>
      <p:sp>
        <p:nvSpPr>
          <p:cNvPr id="7" name="chart-note"/>
          <p:cNvSpPr txBox="1"/>
          <p:nvPr/>
        </p:nvSpPr>
        <p:spPr>
          <a:xfrm>
            <a:off x="508000" y="43942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Record office CMBS delinquency alongside record data-center M&amp;A — the same credit system, two opposite verdicts, in the same quarters.</a:t>
            </a:r>
            <a:endParaRPr lang="en-US" sz="1000" noProof="1"/>
          </a:p>
        </p:txBody>
      </p:sp>
      <p:sp>
        <p:nvSpPr>
          <p:cNvPr id="8" name="bear-head"/>
          <p:cNvSpPr txBox="1"/>
          <p:nvPr/>
        </p:nvSpPr>
        <p:spPr>
          <a:xfrm>
            <a:off x="6426200" y="1600200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bear case we priced in, not argued away</a:t>
            </a:r>
            <a:endParaRPr lang="en-US" sz="1300" noProof="1"/>
          </a:p>
        </p:txBody>
      </p:sp>
      <p:graphicFrame>
        <p:nvGraphicFramePr>
          <p:cNvPr id="9" name="bear-table"/>
          <p:cNvGraphicFramePr>
            <a:graphicFrameLocks noGrp="1"/>
          </p:cNvGraphicFramePr>
          <p:nvPr/>
        </p:nvGraphicFramePr>
        <p:xfrm>
          <a:off x="6426200" y="1905000"/>
          <a:ext cx="5257800" cy="2997200"/>
        </p:xfrm>
        <a:graphic>
          <a:graphicData uri="http://schemas.openxmlformats.org/drawingml/2006/table">
            <a:tbl>
              <a:tblPr/>
              <a:tblGrid>
                <a:gridCol w="1997964"/>
                <a:gridCol w="3259836"/>
              </a:tblGrid>
              <a:tr h="38963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Bear risk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Our answer in the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Hyperscaler capex pauses (2023: Meta "year of efficiency")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Tranche gates release capital only on awarded work; T1 exposure is certification-scale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Timing: we certify into a digestion window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18-month runway targets the 2027–28 delivery wave now being pre-leased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Concentration: 2–3 anchor clients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Six named GC accounts + two corridors; conversion work diversifies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Incumbents (DC-specialist erectors)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Enter through schedule-critical scopes incumbents cannot staff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Power delays stall campuses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Power-led phasing is our entry argument — envelopes precede energization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ear-note"/>
          <p:cNvSpPr txBox="1"/>
          <p:nvPr/>
        </p:nvSpPr>
        <p:spPr>
          <a:xfrm>
            <a:off x="6426200" y="4978400"/>
            <a:ext cx="52578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The honest worst case is a timing loss, not a thesis loss: demand direction is contracted, and the certification moat (Ch. 9) is reusable if the first cycle slips. What we refuse to risk is an unhedged all-in bet — which is why the decision requested is a gate, not a plunge.</a:t>
            </a:r>
            <a:endParaRPr lang="en-US" sz="1100" noProof="1"/>
          </a:p>
        </p:txBody>
      </p:sp>
      <p:sp>
        <p:nvSpPr>
          <p:cNvPr id="11" name="implication"/>
          <p:cNvSpPr txBox="1"/>
          <p:nvPr/>
        </p:nvSpPr>
        <p:spPr>
          <a:xfrm>
            <a:off x="508000" y="5080000"/>
            <a:ext cx="5461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So what: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skeptics inside the room should not be asked to believe the AI boom. They should be asked to believe a hedge: capped downside, gated capital, mechanical kill criteria, and an asset base that keeps its institutional and renovation work throughout.</a:t>
            </a:r>
            <a:endParaRPr lang="en-US" sz="1200" noProof="1"/>
          </a:p>
        </p:txBody>
      </p:sp>
      <p:sp>
        <p:nvSpPr>
          <p:cNvPr id="12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Trepp; CBRE H1 2026; global data-center M&amp;A tallies per proposal Ch. 3 (cited therein); risk framing per proposal Ch. 7 and Ch. 12.</a:t>
            </a:r>
            <a:endParaRPr lang="en-US" sz="10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WHERE WE PLAY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Two Pacific Northwest corridors, one reachable moat: Quincy's 372→750 MW build-out and Hillsboro's 0.2% vacancy sit inside our labor jurisdiction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graphicFrame>
        <p:nvGraphicFramePr>
          <p:cNvPr id="6" name="corr-table"/>
          <p:cNvGraphicFramePr>
            <a:graphicFrameLocks noGrp="1"/>
          </p:cNvGraphicFramePr>
          <p:nvPr/>
        </p:nvGraphicFramePr>
        <p:xfrm>
          <a:off x="508000" y="1600200"/>
          <a:ext cx="11176000" cy="2159000"/>
        </p:xfrm>
        <a:graphic>
          <a:graphicData uri="http://schemas.openxmlformats.org/drawingml/2006/table">
            <a:tbl>
              <a:tblPr/>
              <a:tblGrid>
                <a:gridCol w="1899920"/>
                <a:gridCol w="2458720"/>
                <a:gridCol w="2235200"/>
                <a:gridCol w="2235200"/>
                <a:gridCol w="2346960"/>
              </a:tblGrid>
              <a:tr h="3886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Corridor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Anchor demand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Power position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Market tightness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Distance from Mukilteo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</a:tr>
              <a:tr h="5829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Quincy / Grant County, WA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Microsoft (Quincy-only cloud region), Yahoo/Oath legacy, new AI campuses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Grant PUD: 372 MW expanding to 750 MW; ~$0.04/kWh-class hydro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Absorbing everything delivered; campus-style ground-up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~165 mi — dispatchable from our yard and locals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Hillsboro, OR (Silicon Forest)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NTT, Flexential, QTS, Stack, hyperscale edge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PGE/BPA fed; substation-led phasing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0.2% vacancy — tightest market in the United States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~190 mi — union locals 29/14 overlap our agreements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6045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Puget Sound conversions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Grid-constrained infill; office/industrial-to-DC reuse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SCL/PSE queue multi-year — power gap is the moat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No new power until ~2029+; brownfield wins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Home market — established GC relationships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chart"/>
          <p:cNvPicPr/>
          <p:nvPr/>
        </p:nvPicPr>
        <p:blipFill>
          <a:blip r:embed="rId2"/>
          <a:srcRect t="-164" b="-164"/>
          <a:stretch>
            <a:fillRect/>
          </a:stretch>
        </p:blipFill>
        <p:spPr>
          <a:xfrm>
            <a:off x="508000" y="3911600"/>
            <a:ext cx="5461000" cy="2032000"/>
          </a:xfrm>
          <a:prstGeom prst="rect">
            <a:avLst/>
          </a:prstGeom>
          <a:ln>
            <a:noFill/>
          </a:ln>
        </p:spPr>
      </p:pic>
      <p:sp>
        <p:nvSpPr>
          <p:cNvPr id="8" name="corr-right-head"/>
          <p:cNvSpPr txBox="1"/>
          <p:nvPr/>
        </p:nvSpPr>
        <p:spPr>
          <a:xfrm>
            <a:off x="6426200" y="3911600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Why geography is a moat, not a commute</a:t>
            </a:r>
            <a:endParaRPr lang="en-US" sz="1300" noProof="1"/>
          </a:p>
        </p:txBody>
      </p:sp>
      <p:sp>
        <p:nvSpPr>
          <p:cNvPr id="9" name="corr-right-body"/>
          <p:cNvSpPr txBox="1"/>
          <p:nvPr/>
        </p:nvSpPr>
        <p:spPr>
          <a:xfrm>
            <a:off x="6426200" y="4191000"/>
            <a:ext cx="52578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Envelope erection is local-union work: IUPAT/glazier locals 516/86/29/14 span both corridors, and our existing agreements travel with the crew — a structural advantage over non-signatory national DC erectors staffing megaprojects from out of market.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700"/>
              </a:spcBef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The power gap chart makes the sequencing point: Puget Sound's constraint pushes near-term volume into the two corridors where power exists — exactly the two we can reach without relocating the branch.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7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Focus discipline: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Quincy is the beachhead (ground-up mega-panel envelopes); Hillsboro is the expansion market; Puget Sound conversions are opportunistic margin, not the thesis.</a:t>
            </a:r>
            <a:endParaRPr lang="en-US" sz="1100" noProof="1"/>
          </a:p>
        </p:txBody>
      </p:sp>
      <p:sp>
        <p:nvSpPr>
          <p:cNvPr id="10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Grant PUD filings; CBRE/JLL Hillsboro market data; proposal Ch. 5 (corridors) and Ch. 6 (power); union jurisdiction per proposal Ch. 11.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WHY WE WIN · 1 OF 3 — THE HONEST TECHNICAL CASE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We do not sell energy savings — we sell code compliance, moisture/ESD risk control, and RFS-date insurance, and the data supports exactly that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pic>
        <p:nvPicPr>
          <p:cNvPr id="6" name="chart"/>
          <p:cNvPicPr/>
          <p:nvPr/>
        </p:nvPicPr>
        <p:blipFill>
          <a:blip r:embed="rId2"/>
          <a:srcRect l="-106" r="-106"/>
          <a:stretch>
            <a:fillRect/>
          </a:stretch>
        </p:blipFill>
        <p:spPr>
          <a:xfrm>
            <a:off x="508000" y="1600200"/>
            <a:ext cx="5461000" cy="3327400"/>
          </a:xfrm>
          <a:prstGeom prst="rect">
            <a:avLst/>
          </a:prstGeom>
          <a:ln>
            <a:noFill/>
          </a:ln>
        </p:spPr>
      </p:pic>
      <p:sp>
        <p:nvSpPr>
          <p:cNvPr id="7" name="chart-note"/>
          <p:cNvSpPr txBox="1"/>
          <p:nvPr/>
        </p:nvSpPr>
        <p:spPr>
          <a:xfrm>
            <a:off x="508000" y="49530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IMP core R-value per inch (ASTM C518/C1363) vs. panel thickness, benchmarked against WSEC 2021 C402.1.3 wall requirements: a 2–3 in. IMP assembly clears Washington's commercial envelope code with factory-controlled continuity no stick-built wall matches.</a:t>
            </a:r>
            <a:endParaRPr lang="en-US" sz="1000" noProof="1"/>
          </a:p>
        </p:txBody>
      </p:sp>
      <p:sp>
        <p:nvSpPr>
          <p:cNvPr id="8" name="right-head"/>
          <p:cNvSpPr txBox="1"/>
          <p:nvPr/>
        </p:nvSpPr>
        <p:spPr>
          <a:xfrm>
            <a:off x="6426200" y="1600200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case we make to technical owners — and the one we don't</a:t>
            </a:r>
            <a:endParaRPr lang="en-US" sz="1300" noProof="1"/>
          </a:p>
        </p:txBody>
      </p:sp>
      <p:sp>
        <p:nvSpPr>
          <p:cNvPr id="9" name="right-body"/>
          <p:cNvSpPr txBox="1"/>
          <p:nvPr/>
        </p:nvSpPr>
        <p:spPr>
          <a:xfrm>
            <a:off x="6426200" y="1905000"/>
            <a:ext cx="52578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Compliance, not efficiency marketing.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DOE/LBNL put envelope loads at ≤1% of data-center cooling energy; the envelope's value is passing WSEC/IECC on the first submission, with continuous insulation and factory-sealed joints that survive plan review.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Risk physics.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Interior moisture and electrostatic discharge are uptime threats: the envelope is the first control layer. Peer-reviewed building-science literature ties airtightness to condensation control in cold-storage-adjacent and high-humidity-load shells — the same physics as white space.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Tested, not asserted.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Anchored airtightness: 0.40 cfm/ft² @ 75 Pa whole-building (USACE/ABAA protocol), 0.25 cfm/ft² on delivered IMP scope — verifiable by blower door at turnover, and the basis of our T4 kill gate.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What we deliberately dropped: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the original draft's energy-savings framing. It does not survive DOE arithmetic, and saying so earns credibility with hyperscaler engineering teams who check the same numbers.</a:t>
            </a:r>
            <a:endParaRPr lang="en-US" sz="1100" noProof="1"/>
          </a:p>
        </p:txBody>
      </p:sp>
      <p:sp>
        <p:nvSpPr>
          <p:cNvPr id="10" name="implication"/>
          <p:cNvSpPr txBox="1"/>
          <p:nvPr/>
        </p:nvSpPr>
        <p:spPr>
          <a:xfrm>
            <a:off x="6426200" y="5080000"/>
            <a:ext cx="5257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So what: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the technical pitch survives hostile review precisely because it claims less — compliance certainty, risk control, schedule — all provable in a pre-bid interview with a mock-up bay and test reports.</a:t>
            </a:r>
            <a:endParaRPr lang="en-US" sz="1200" noProof="1"/>
          </a:p>
        </p:txBody>
      </p:sp>
      <p:sp>
        <p:nvSpPr>
          <p:cNvPr id="11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DOE/LBNL data-center energy assessments; WSEC 2021; ASTM/ASHRAE test standards; ABAA/USACE airtightness protocols; proposal Ch. 9.</a:t>
            </a:r>
            <a:endParaRPr lang="en-US" sz="100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WHY WE WIN · 2 OF 3 — THE OPERATIONAL CASE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Prefab enclosures compress schedules 20–50% — and on a market where delay costs up to $100K/day, schedule certainty is the product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pic>
        <p:nvPicPr>
          <p:cNvPr id="6" name="chart"/>
          <p:cNvPicPr/>
          <p:nvPr/>
        </p:nvPicPr>
        <p:blipFill>
          <a:blip r:embed="rId2"/>
          <a:srcRect t="-105" b="-105"/>
          <a:stretch>
            <a:fillRect/>
          </a:stretch>
        </p:blipFill>
        <p:spPr>
          <a:xfrm>
            <a:off x="508000" y="1600200"/>
            <a:ext cx="5842000" cy="2895600"/>
          </a:xfrm>
          <a:prstGeom prst="rect">
            <a:avLst/>
          </a:prstGeom>
          <a:ln>
            <a:noFill/>
          </a:ln>
        </p:spPr>
      </p:pic>
      <p:sp>
        <p:nvSpPr>
          <p:cNvPr id="7" name="chart-note"/>
          <p:cNvSpPr txBox="1"/>
          <p:nvPr/>
        </p:nvSpPr>
        <p:spPr>
          <a:xfrm>
            <a:off x="508000" y="45466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Panelized/mega-panel enclosure erection vs. conventional stick-built sequence for a representative 30 MW shell, weeks from mobilization to weathertight (synthesis of prefab literature + McKinsey modular-construction findings, per proposal Ch. 10).</a:t>
            </a:r>
            <a:endParaRPr lang="en-US" sz="1000" noProof="1"/>
          </a:p>
        </p:txBody>
      </p:sp>
      <p:sp>
        <p:nvSpPr>
          <p:cNvPr id="8" name="right-head"/>
          <p:cNvSpPr txBox="1"/>
          <p:nvPr/>
        </p:nvSpPr>
        <p:spPr>
          <a:xfrm>
            <a:off x="6807200" y="16002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What we already do that transfers directly</a:t>
            </a:r>
            <a:endParaRPr lang="en-US" sz="1300" noProof="1"/>
          </a:p>
        </p:txBody>
      </p:sp>
      <p:sp>
        <p:nvSpPr>
          <p:cNvPr id="9" name="right-body"/>
          <p:cNvSpPr txBox="1"/>
          <p:nvPr/>
        </p:nvSpPr>
        <p:spPr>
          <a:xfrm>
            <a:off x="6807200" y="1905000"/>
            <a:ext cx="48768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Unitized curtain wall </a:t>
            </a:r>
            <a:r>
              <a:rPr lang="en-US" sz="1100" noProof="1" i="1">
                <a:solidFill>
                  <a:srgbClr val="6B6259"/>
                </a:solidFill>
                <a:latin typeface="Quattrocento Sans"/>
                <a:ea typeface="Quattrocento Sans"/>
              </a:rPr>
              <a:t>is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prefab enclosure: shop-fabricated mega-panels, crane-set installation, engineered anchors, thermal-break gasketing, field air/water testing (AAMA/ASTM), and tolerance-critical QA/QC — the identical craft stack IMP erection requires.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What is new is modest and certifiable: manufacturer installer training (CENTRIA/Kingspan/AWIP), IMP-specific joint detailing, FM/ASTM E119 fire-assembly familiarity, and ABAA airtightness-field protocol.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Conversion capability is a second, quieter product: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the same survey-and-retrofit envelope skills serve the office/industrial-to-DC conversion wave now starting in power-constrained metros — work our competitors' ground-up crews do not chase.</a:t>
            </a:r>
            <a:endParaRPr lang="en-US" sz="1100" noProof="1"/>
          </a:p>
        </p:txBody>
      </p:sp>
      <p:sp>
        <p:nvSpPr>
          <p:cNvPr id="10" name="implication"/>
          <p:cNvSpPr txBox="1"/>
          <p:nvPr/>
        </p:nvSpPr>
        <p:spPr>
          <a:xfrm>
            <a:off x="6807200" y="4826000"/>
            <a:ext cx="4876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So what: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the bid we can win is not \"we are cheaper.\" It is \"we hold your RFS date\" — backed by a timed mock-up, published crew productivity, and LD-aware contract language the GCs in this market already price.</a:t>
            </a:r>
            <a:endParaRPr lang="en-US" sz="1200" noProof="1"/>
          </a:p>
        </p:txBody>
      </p:sp>
      <p:sp>
        <p:nvSpPr>
          <p:cNvPr id="11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peer-reviewed prefabrication/lean-construction literature; McKinsey modular construction (2019); liquidated-damages norms per proposal Ch. 10.</a:t>
            </a:r>
            <a:endParaRPr lang="en-US" sz="100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WHY WE WIN · 3 OF 3 — ACCESS AND MOAT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Market access is named and corridor-specific: six GC accounts, each the actual builder of the campuses in its corridor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graphicFrame>
        <p:nvGraphicFramePr>
          <p:cNvPr id="6" name="gc-table"/>
          <p:cNvGraphicFramePr>
            <a:graphicFrameLocks noGrp="1"/>
          </p:cNvGraphicFramePr>
          <p:nvPr/>
        </p:nvGraphicFramePr>
        <p:xfrm>
          <a:off x="508000" y="1600200"/>
          <a:ext cx="11176000" cy="2413000"/>
        </p:xfrm>
        <a:graphic>
          <a:graphicData uri="http://schemas.openxmlformats.org/drawingml/2006/table">
            <a:tbl>
              <a:tblPr/>
              <a:tblGrid>
                <a:gridCol w="2235200"/>
                <a:gridCol w="1788160"/>
                <a:gridCol w="3799840"/>
                <a:gridCol w="3352800"/>
              </a:tblGrid>
              <a:tr h="3619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GC account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Corridor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Why this account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Our entry scope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</a:tr>
              <a:tr h="51276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DPR Construction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Quincy / national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Builder of record on multiple Central-WA hyperscale campuses; self-perform culture favors certified prefab partners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Mega-panel envelope package on ground-up shell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76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Fortis Construction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Hillsboro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Dominant Silicon Forest DC GC; long local panel-erector bench is fully committed — staffing gap is our opening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IMP shell + interior liner on expansion phases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51276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Hoffman Construction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Central WA (Quincy)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Confidential 128 MW Quincy cluster; MWH02 phase called “fastest in portfolio” by the client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Acoustic generator-yard walls + louver cassettes on expansion phases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76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Mortenson / T5 CS / Lease Crutcher Lewis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Central WA + Hillsboro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Mortenson (#9 nationally, $1.72B) plus T5 CS and Lease Crutcher Lewis — the verified Hillsboro GC bench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Prequalification + mock-up demonstrations; trade-package entry across both corridors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</a:tbl>
          </a:graphicData>
        </a:graphic>
      </p:graphicFrame>
      <p:sp>
        <p:nvSpPr>
          <p:cNvPr id="7" name="moat-head"/>
          <p:cNvSpPr txBox="1"/>
          <p:nvPr/>
        </p:nvSpPr>
        <p:spPr>
          <a:xfrm>
            <a:off x="508000" y="419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moat, stated mechanically</a:t>
            </a:r>
            <a:endParaRPr lang="en-US" sz="1300" noProof="1"/>
          </a:p>
        </p:txBody>
      </p:sp>
      <p:sp>
        <p:nvSpPr>
          <p:cNvPr id="8" name="moat-body"/>
          <p:cNvSpPr txBox="1"/>
          <p:nvPr/>
        </p:nvSpPr>
        <p:spPr>
          <a:xfrm>
            <a:off x="508000" y="44704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1 · Certified prefab: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manufacturer installer agreements are quota-limited and slow to obtain — each one we hold is one a fast-follower does not.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2 · Union jurisdiction: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locals 516/86/29/14 span both corridors; signatory GCs need signatory envelope subs, and our agreements already travel.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3 · Tested performance: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a published 0.25 cfm/ft² blower-door result on delivered scope is a reference asset that compounds — it cannot be claimed, only earned.</a:t>
            </a:r>
            <a:endParaRPr lang="en-US" sz="1100" noProof="1"/>
          </a:p>
        </p:txBody>
      </p:sp>
      <p:sp>
        <p:nvSpPr>
          <p:cNvPr id="9" name="right-note"/>
          <p:cNvSpPr txBox="1"/>
          <p:nvPr/>
        </p:nvSpPr>
        <p:spPr>
          <a:xfrm>
            <a:off x="7366000" y="4470400"/>
            <a:ext cx="431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Honest boundary: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none of this wins the first job by itself. The first award comes from a GC with a staffing hole and an RFS date it cannot move — our job in Phase 1–2 is to be prequalified, certified, and standing next to that hole when it opens.</a:t>
            </a:r>
            <a:endParaRPr lang="en-US" sz="1100" noProof="1"/>
          </a:p>
        </p:txBody>
      </p:sp>
      <p:sp>
        <p:nvSpPr>
          <p:cNvPr id="10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corridor GC activity and GC identities per proposal Ch. 7 (market access, GC channel, and labor position), verified against project-of-record reporting cited therein.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RISK DISCIPLINE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Every material risk is registered, owned, and wired to a mechanical trigger — capital moves only when the market confirms the thesis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graphicFrame>
        <p:nvGraphicFramePr>
          <p:cNvPr id="6" name="risk-table"/>
          <p:cNvGraphicFramePr>
            <a:graphicFrameLocks noGrp="1"/>
          </p:cNvGraphicFramePr>
          <p:nvPr/>
        </p:nvGraphicFramePr>
        <p:xfrm>
          <a:off x="508000" y="1600200"/>
          <a:ext cx="11176000" cy="2794000"/>
        </p:xfrm>
        <a:graphic>
          <a:graphicData uri="http://schemas.openxmlformats.org/drawingml/2006/table">
            <a:tbl>
              <a:tblPr/>
              <a:tblGrid>
                <a:gridCol w="2682240"/>
                <a:gridCol w="1117600"/>
                <a:gridCol w="4023360"/>
                <a:gridCol w="3352800"/>
              </a:tblGrid>
              <a:tr h="3632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Level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Mitigation in the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Kill / release trigger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5238"/>
                    </a:solidFill>
                  </a:tcPr>
                </a:tc>
              </a:tr>
              <a:tr h="4861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Hyperscaler capex digestion window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Tranche gates; T1 spend is certification-scale only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No qualified pipeline after Phase 2 → T3 halts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61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Manufacturer agreement unavailable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Pursue CENTRIA, Kingspan, AWIP in parallel from Month 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No agreement within two quarters → stop at T1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4861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Airtightness acceptance failure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Timed mock-up; ABAA protocol; factory-sealed joints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Two consecutive failed tests → T4 expansion stops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61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LD exposure on first project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LD-cap clause in contract template; schedule-float pricing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Any LD-cap event escalates to ownership review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DE5"/>
                    </a:solidFill>
                  </a:tcPr>
                </a:tc>
              </a:tr>
              <a:tr h="4861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Client concentration (2–3 anchors)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Med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Six named accounts; two corridors; conversion sideline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E2A26"/>
                          </a:solidFill>
                          <a:latin typeface="Quattrocento Sans"/>
                          <a:ea typeface="Quattrocento Sans"/>
                        </a:rPr>
                        <a:t>Reviewed quarterly against pipeline mix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hedge-head"/>
          <p:cNvSpPr txBox="1"/>
          <p:nvPr/>
        </p:nvSpPr>
        <p:spPr>
          <a:xfrm>
            <a:off x="508000" y="4597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The hedge architecture in one sentence</a:t>
            </a:r>
            <a:endParaRPr lang="en-US" sz="1300" noProof="1"/>
          </a:p>
        </p:txBody>
      </p:sp>
      <p:sp>
        <p:nvSpPr>
          <p:cNvPr id="8" name="hedge-body"/>
          <p:cNvSpPr txBox="1"/>
          <p:nvPr/>
        </p:nvSpPr>
        <p:spPr>
          <a:xfrm>
            <a:off x="508000" y="4876800"/>
            <a:ext cx="685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Each tranche is an option, not a commitment: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T1 buys certification, T2 buys pipeline visibility, T3 releases only on a signed subcontract, T4 is substantially funded by project cash flow.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The maximum unhedged exposure at any moment is one tranche — sized so a full stop leaves the legacy platform intact and the certifications resalable.</a:t>
            </a:r>
            <a:endParaRPr lang="en-US" sz="1200" noProof="1"/>
          </a:p>
        </p:txBody>
      </p:sp>
      <p:sp>
        <p:nvSpPr>
          <p:cNvPr id="9" name="hedge-note"/>
          <p:cNvSpPr txBox="1"/>
          <p:nvPr/>
        </p:nvSpPr>
        <p:spPr>
          <a:xfrm>
            <a:off x="7874000" y="48768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Governance: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tranche release requires documented evidence against the trigger table (Ch. 9 §9.2), signed by the branch GM and reviewed by ownership — no discretionary overrides.</a:t>
            </a:r>
            <a:endParaRPr lang="en-US" sz="1100" noProof="1"/>
          </a:p>
        </p:txBody>
      </p:sp>
      <p:sp>
        <p:nvSpPr>
          <p:cNvPr id="10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proposal Ch. 9 (tranche triggers), Ch. 12 (risk register); trigger thresholds as reconciled between Ch. 8 and Ch. 9.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EXECUTION ROADMAP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Eighteen months, four tranches, two award gates — the plan self-funds from the first subcontract onward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pic>
        <p:nvPicPr>
          <p:cNvPr id="6" name="chart"/>
          <p:cNvPicPr/>
          <p:nvPr/>
        </p:nvPicPr>
        <p:blipFill>
          <a:blip r:embed="rId2"/>
          <a:srcRect l="-61" r="-61"/>
          <a:stretch>
            <a:fillRect/>
          </a:stretch>
        </p:blipFill>
        <p:spPr>
          <a:xfrm>
            <a:off x="508000" y="1600200"/>
            <a:ext cx="6350000" cy="4953000"/>
          </a:xfrm>
          <a:prstGeom prst="rect">
            <a:avLst/>
          </a:prstGeom>
          <a:ln>
            <a:noFill/>
          </a:ln>
        </p:spPr>
      </p:pic>
      <p:sp>
        <p:nvSpPr>
          <p:cNvPr id="7" name="tl-head"/>
          <p:cNvSpPr txBox="1"/>
          <p:nvPr/>
        </p:nvSpPr>
        <p:spPr>
          <a:xfrm>
            <a:off x="7315200" y="1600200"/>
            <a:ext cx="4368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Phase calendar and evidence gates</a:t>
            </a:r>
            <a:endParaRPr lang="en-US" sz="1300" noProof="1"/>
          </a:p>
        </p:txBody>
      </p:sp>
      <p:sp>
        <p:nvSpPr>
          <p:cNvPr id="8" name="tl-body"/>
          <p:cNvSpPr txBox="1"/>
          <p:nvPr/>
        </p:nvSpPr>
        <p:spPr>
          <a:xfrm>
            <a:off x="7315200" y="1905000"/>
            <a:ext cx="43688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Phase 1 · Months 1–4 — Certify.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Installer agreements signed; ABAA/BECx training complete; timed mega-panel mock-up erected and tested at Mukilteo. </a:t>
            </a:r>
            <a:r>
              <a:rPr lang="en-US" sz="1100" noProof="1" i="1">
                <a:solidFill>
                  <a:srgbClr val="6B6259"/>
                </a:solidFill>
                <a:latin typeface="Quattrocento Sans"/>
                <a:ea typeface="Quattrocento Sans"/>
              </a:rPr>
              <a:t>Gate: agreement + passed mock-up test → release T2.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Phase 2 · Months 3–8 — Pursue.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Prequalification packages to all six GC accounts; single-source envelope bids; mock-up demonstrations for DPR and Fortis. </a:t>
            </a:r>
            <a:r>
              <a:rPr lang="en-US" sz="1100" noProof="1" i="1">
                <a:solidFill>
                  <a:srgbClr val="6B6259"/>
                </a:solidFill>
                <a:latin typeface="Quattrocento Sans"/>
                <a:ea typeface="Quattrocento Sans"/>
              </a:rPr>
              <a:t>Gate: first envelope subcontract award → release T3.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Phase 3 · Months 6–9 — Execute.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Mobilize first project; crew productivity baseline published; LD-cap contract template in force. </a:t>
            </a:r>
            <a:r>
              <a:rPr lang="en-US" sz="1100" noProof="1" i="1">
                <a:solidFill>
                  <a:srgbClr val="6B6259"/>
                </a:solidFill>
                <a:latin typeface="Quattrocento Sans"/>
                <a:ea typeface="Quattrocento Sans"/>
              </a:rPr>
              <a:t>Gate: first-pass blower-door acceptance → release T4.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6B6259"/>
                </a:solidFill>
                <a:latin typeface="Quattrocento Sans"/>
                <a:ea typeface="Quattrocento Sans"/>
              </a:rPr>
              <a:t>Phase 4 · Months 12–18 — Scale.</a:t>
            </a:r>
            <a:r>
              <a:rPr lang="en-US" sz="1100" noProof="1">
                <a:solidFill>
                  <a:srgbClr val="6B6259"/>
                </a:solidFill>
                <a:latin typeface="Quattrocento Sans"/>
                <a:ea typeface="Quattrocento Sans"/>
              </a:rPr>
              <a:t> Second corridor entry; conversion-scope sideline; T4 funded substantially by project cash flow. </a:t>
            </a:r>
            <a:r>
              <a:rPr lang="en-US" sz="1100" noProof="1" i="1">
                <a:solidFill>
                  <a:srgbClr val="6B6259"/>
                </a:solidFill>
                <a:latin typeface="Quattrocento Sans"/>
                <a:ea typeface="Quattrocento Sans"/>
              </a:rPr>
              <a:t>Gate: quarterly pipeline-mix and margin review by ownership.</a:t>
            </a:r>
            <a:endParaRPr lang="en-US" sz="1100" noProof="1"/>
          </a:p>
        </p:txBody>
      </p:sp>
      <p:sp>
        <p:nvSpPr>
          <p:cNvPr id="9" name="tl-note"/>
          <p:cNvSpPr txBox="1"/>
          <p:nvPr/>
        </p:nvSpPr>
        <p:spPr>
          <a:xfrm>
            <a:off x="508000" y="59690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Cumulative cash curve: peak exposure at certification+pursuit, inflecting positive after first award.</a:t>
            </a:r>
            <a:endParaRPr lang="en-US" sz="1000" noProof="1"/>
          </a:p>
        </p:txBody>
      </p:sp>
      <p:sp>
        <p:nvSpPr>
          <p:cNvPr id="10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Source: proposal Ch. 9 (tranche-gated investment schedule and cash-flow model); phase calendar per Ch. 13 roadmap.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302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A05238"/>
                </a:solidFill>
                <a:latin typeface="Quattrocento Sans"/>
                <a:ea typeface="Quattrocento Sans"/>
              </a:rPr>
              <a:t>THE DECISION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508000" y="609600"/>
            <a:ext cx="63500" cy="660400"/>
          </a:xfrm>
          <a:prstGeom prst="rect">
            <a:avLst/>
          </a:prstGeom>
          <a:solidFill>
            <a:srgbClr val="A05238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584200"/>
            <a:ext cx="1079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E2A26"/>
                </a:solidFill>
                <a:latin typeface="Unna"/>
                <a:ea typeface="Unna"/>
              </a:rPr>
              <a:t>The asymmetry favors acting now: the cost of entry is bounded and resalable; the cost of waiting is a shrinking market and a crowded doorway</a:t>
            </a:r>
            <a:endParaRPr lang="en-US" sz="2600" noProof="1"/>
          </a:p>
        </p:txBody>
      </p:sp>
      <p:sp>
        <p:nvSpPr>
          <p:cNvPr id="5" name="rule"/>
          <p:cNvSpPr/>
          <p:nvPr/>
        </p:nvSpPr>
        <p:spPr>
          <a:xfrm>
            <a:off x="508000" y="14224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6" name="asym-head"/>
          <p:cNvSpPr txBox="1"/>
          <p:nvPr/>
        </p:nvSpPr>
        <p:spPr>
          <a:xfrm>
            <a:off x="711200" y="16256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Why now, stated without hype</a:t>
            </a:r>
            <a:endParaRPr lang="en-US" sz="1300" noProof="1"/>
          </a:p>
        </p:txBody>
      </p:sp>
      <p:sp>
        <p:nvSpPr>
          <p:cNvPr id="7" name="asym-body"/>
          <p:cNvSpPr txBox="1"/>
          <p:nvPr/>
        </p:nvSpPr>
        <p:spPr>
          <a:xfrm>
            <a:off x="711200" y="1905000"/>
            <a:ext cx="6096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If we are wrong about timing,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the loss is certification-scale spend, partially resalable, with the legacy platform intact.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If we are right,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we hold manufacturer certifications, tested references, and GC prequalification in a market where 80.4% of construction is pre-leased and the erector bench is the binding constraint — assets that took incumbents years to assemble and that a fast-follower cannot shortcut.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If we wait,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the same evidence guarantees the doorway fills: certification quotas, union crew availability, and GC shortlists are all finite — and the office pipeline that is supposed to carry us has already contracted 99%.</a:t>
            </a:r>
            <a:endParaRPr lang="en-US" sz="1200" noProof="1"/>
          </a:p>
        </p:txBody>
      </p:sp>
      <p:sp>
        <p:nvSpPr>
          <p:cNvPr id="8" name="asym-divider"/>
          <p:cNvSpPr/>
          <p:nvPr/>
        </p:nvSpPr>
        <p:spPr>
          <a:xfrm>
            <a:off x="7061200" y="1625600"/>
            <a:ext cx="12700" cy="30480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9" name="ask-head"/>
          <p:cNvSpPr txBox="1"/>
          <p:nvPr/>
        </p:nvSpPr>
        <p:spPr>
          <a:xfrm>
            <a:off x="7366000" y="16256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A05238"/>
                </a:solidFill>
                <a:latin typeface="Quattrocento Sans"/>
                <a:ea typeface="Quattrocento Sans"/>
              </a:rPr>
              <a:t>Three approvals requested this quarter</a:t>
            </a:r>
            <a:endParaRPr lang="en-US" sz="1300" noProof="1"/>
          </a:p>
        </p:txBody>
      </p:sp>
      <p:sp>
        <p:nvSpPr>
          <p:cNvPr id="10" name="ask-body"/>
          <p:cNvSpPr txBox="1"/>
          <p:nvPr/>
        </p:nvSpPr>
        <p:spPr>
          <a:xfrm>
            <a:off x="7366000" y="1905000"/>
            <a:ext cx="4318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1.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Approve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Tranche 1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certification funding and the 18-month phase calendar with its published gates.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2.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Authorize the GM to execute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manufacturer installer agreements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(CENTRIA / Kingspan / AWIP) and ABAA/BECx training enrollments.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3.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 Approve the </a:t>
            </a:r>
            <a:r>
              <a:rPr lang="en-US" sz="1200" noProof="1" b="1">
                <a:solidFill>
                  <a:srgbClr val="2E2A26"/>
                </a:solidFill>
                <a:latin typeface="Quattrocento Sans"/>
                <a:ea typeface="Quattrocento Sans"/>
              </a:rPr>
              <a:t>tranche-release protocol</a:t>
            </a:r>
            <a:r>
              <a:rPr lang="en-US" sz="1200" noProof="1">
                <a:solidFill>
                  <a:srgbClr val="2E2A26"/>
                </a:solidFill>
                <a:latin typeface="Quattrocento Sans"/>
                <a:ea typeface="Quattrocento Sans"/>
              </a:rPr>
              <a:t>: documented evidence against the trigger table, GM signature, ownership review — with the kill criteria adopted as written, before the first dollar moves.</a:t>
            </a:r>
            <a:endParaRPr lang="en-US" sz="1200" noProof="1"/>
          </a:p>
        </p:txBody>
      </p:sp>
      <p:sp>
        <p:nvSpPr>
          <p:cNvPr id="11" name="bottom-rule"/>
          <p:cNvSpPr/>
          <p:nvPr/>
        </p:nvSpPr>
        <p:spPr>
          <a:xfrm>
            <a:off x="508000" y="5080000"/>
            <a:ext cx="11176000" cy="12700"/>
          </a:xfrm>
          <a:prstGeom prst="rect">
            <a:avLst/>
          </a:prstGeom>
          <a:solidFill>
            <a:srgbClr val="D8CFC6"/>
          </a:solidFill>
          <a:ln>
            <a:noFill/>
          </a:ln>
        </p:spPr>
      </p:sp>
      <p:sp>
        <p:nvSpPr>
          <p:cNvPr id="12" name="closing"/>
          <p:cNvSpPr txBox="1"/>
          <p:nvPr/>
        </p:nvSpPr>
        <p:spPr>
          <a:xfrm>
            <a:off x="711200" y="5283200"/>
            <a:ext cx="1079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700" noProof="1" i="1">
                <a:solidFill>
                  <a:srgbClr val="2E2A26"/>
                </a:solidFill>
                <a:latin typeface="Unna"/>
                <a:ea typeface="Unna"/>
              </a:rPr>
              <a:t>"The question before ownership is not whether the data center boom is real — the financing system has already answered that. It is whether this company's capacity follows the capital that is building, or stays with the capital that is leaving."</a:t>
            </a:r>
            <a:endParaRPr lang="en-US" sz="1700" noProof="1"/>
          </a:p>
        </p:txBody>
      </p:sp>
      <p:sp>
        <p:nvSpPr>
          <p:cNvPr id="13" name="footer-src"/>
          <p:cNvSpPr txBox="1"/>
          <p:nvPr/>
        </p:nvSpPr>
        <p:spPr>
          <a:xfrm>
            <a:off x="508000" y="652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Companion document: Data_Center_Investment_Proposal_Walters_Wolf.docx — full evidence base, chapter-by-chapter analysis, and references.</a:t>
            </a:r>
            <a:endParaRPr lang="en-US" sz="100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11760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B6259"/>
                </a:solidFill>
                <a:latin typeface="Quattrocento Sans"/>
                <a:ea typeface="Quattrocento 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Mission-Critical: The Investment Case for Repositioning Walters &amp; Wolf Mukilteo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